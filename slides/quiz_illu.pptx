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60138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940573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1228371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8992989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01107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692348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1446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322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7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85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8200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745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523F91-63B4-C91C-F2B0-A8B57EA72D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879F33-93A3-A222-B11B-F6761D486B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59967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11103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90569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52515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90987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6942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27027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43844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24966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31099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03573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65847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971090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26519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17427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5257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61953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01927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680227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08818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5198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31694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86454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25340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4943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8225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209407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494831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341320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881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196385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980141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69687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74416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804559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29315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96887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480156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89175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16248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04136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24982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53072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068861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951037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490342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51644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82563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5760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341232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93412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93996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87246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67730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682829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33392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541764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92687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52504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24731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00522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483779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068883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72192587" name=""/>
          <p:cNvGrpSpPr/>
          <p:nvPr/>
        </p:nvGrpSpPr>
        <p:grpSpPr bwMode="auto">
          <a:xfrm>
            <a:off x="2864240" y="403607"/>
            <a:ext cx="6247026" cy="6371525"/>
            <a:chOff x="0" y="0"/>
            <a:chExt cx="6247026" cy="6371525"/>
          </a:xfrm>
        </p:grpSpPr>
        <p:pic>
          <p:nvPicPr>
            <p:cNvPr id="1275667355" name=""/>
            <p:cNvPicPr>
              <a:picLocks noChangeAspect="1"/>
            </p:cNvPicPr>
            <p:nvPr/>
          </p:nvPicPr>
          <p:blipFill rotWithShape="1">
            <a:blip r:embed="rId3"/>
            <a:srcRect l="0" t="8279" r="0" b="593"/>
            <a:stretch/>
          </p:blipFill>
          <p:spPr bwMode="auto">
            <a:xfrm flipH="0" flipV="0">
              <a:off x="2161125" y="0"/>
              <a:ext cx="1924776" cy="2595850"/>
            </a:xfrm>
            <a:prstGeom prst="ellipse">
              <a:avLst/>
            </a:prstGeom>
          </p:spPr>
        </p:pic>
        <p:pic>
          <p:nvPicPr>
            <p:cNvPr id="54781744" name=""/>
            <p:cNvPicPr>
              <a:picLocks noChangeAspect="1"/>
            </p:cNvPicPr>
            <p:nvPr/>
          </p:nvPicPr>
          <p:blipFill rotWithShape="1">
            <a:blip r:embed="rId4"/>
            <a:srcRect l="4555" t="22340" r="4352" b="22604"/>
            <a:stretch/>
          </p:blipFill>
          <p:spPr bwMode="auto">
            <a:xfrm flipH="0" flipV="0">
              <a:off x="0" y="2595850"/>
              <a:ext cx="6247026" cy="3775675"/>
            </a:xfrm>
            <a:prstGeom prst="rect">
              <a:avLst/>
            </a:prstGeom>
          </p:spPr>
        </p:pic>
        <p:pic>
          <p:nvPicPr>
            <p:cNvPr id="533141259" name=""/>
            <p:cNvPicPr>
              <a:picLocks noChangeAspect="1"/>
            </p:cNvPicPr>
            <p:nvPr/>
          </p:nvPicPr>
          <p:blipFill rotWithShape="1">
            <a:blip r:embed="rId5"/>
            <a:srcRect l="26559" t="0" r="18182" b="50000"/>
            <a:stretch/>
          </p:blipFill>
          <p:spPr bwMode="auto">
            <a:xfrm flipH="0" flipV="0">
              <a:off x="290181" y="1332577"/>
              <a:ext cx="1650999" cy="2240850"/>
            </a:xfrm>
            <a:prstGeom prst="ellipse">
              <a:avLst/>
            </a:prstGeom>
          </p:spPr>
        </p:pic>
        <p:pic>
          <p:nvPicPr>
            <p:cNvPr id="257289880" name=""/>
            <p:cNvPicPr>
              <a:picLocks noChangeAspect="1"/>
            </p:cNvPicPr>
            <p:nvPr/>
          </p:nvPicPr>
          <p:blipFill rotWithShape="1">
            <a:blip r:embed="rId6"/>
            <a:srcRect l="20466" t="3328" r="25037" b="27438"/>
            <a:stretch/>
          </p:blipFill>
          <p:spPr bwMode="auto">
            <a:xfrm flipH="0" flipV="0">
              <a:off x="4326967" y="1706139"/>
              <a:ext cx="1777999" cy="2258785"/>
            </a:xfrm>
            <a:prstGeom prst="ellipse">
              <a:avLst/>
            </a:prstGeom>
          </p:spPr>
        </p:pic>
        <p:sp>
          <p:nvSpPr>
            <p:cNvPr id="981972277" name=""/>
            <p:cNvSpPr txBox="1"/>
            <p:nvPr/>
          </p:nvSpPr>
          <p:spPr bwMode="auto">
            <a:xfrm rot="0" flipH="0" flipV="0">
              <a:off x="2491804" y="2117722"/>
              <a:ext cx="1290142" cy="30515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" sz="1400">
                  <a:solidFill>
                    <a:schemeClr val="bg1"/>
                  </a:solidFill>
                </a:rPr>
                <a:t>D. Mouillot (7)</a:t>
              </a:r>
              <a:endParaRPr sz="1400">
                <a:solidFill>
                  <a:schemeClr val="bg1"/>
                </a:solidFill>
              </a:endParaRPr>
            </a:p>
          </p:txBody>
        </p:sp>
        <p:sp>
          <p:nvSpPr>
            <p:cNvPr id="1893677091" name=""/>
            <p:cNvSpPr txBox="1"/>
            <p:nvPr/>
          </p:nvSpPr>
          <p:spPr bwMode="auto">
            <a:xfrm rot="0" flipH="0" flipV="0">
              <a:off x="559508" y="3161463"/>
              <a:ext cx="1112346" cy="30515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" sz="1400">
                  <a:solidFill>
                    <a:schemeClr val="bg1"/>
                  </a:solidFill>
                </a:rPr>
                <a:t>C. Violle (6)</a:t>
              </a:r>
              <a:endParaRPr sz="1400">
                <a:solidFill>
                  <a:schemeClr val="bg1"/>
                </a:solidFill>
              </a:endParaRPr>
            </a:p>
          </p:txBody>
        </p:sp>
        <p:sp>
          <p:nvSpPr>
            <p:cNvPr id="1675758136" name=""/>
            <p:cNvSpPr txBox="1"/>
            <p:nvPr/>
          </p:nvSpPr>
          <p:spPr bwMode="auto">
            <a:xfrm rot="0" flipH="0" flipV="0">
              <a:off x="4614436" y="3528308"/>
              <a:ext cx="1250818" cy="30515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" sz="1400">
                  <a:solidFill>
                    <a:schemeClr val="bg1"/>
                  </a:solidFill>
                </a:rPr>
                <a:t>J. Claudet (5)</a:t>
              </a:r>
              <a:endParaRPr sz="14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8635844" name=""/>
          <p:cNvGrpSpPr/>
          <p:nvPr/>
        </p:nvGrpSpPr>
        <p:grpSpPr bwMode="auto">
          <a:xfrm>
            <a:off x="2747872" y="2345322"/>
            <a:ext cx="6363392" cy="4420736"/>
            <a:chOff x="0" y="0"/>
            <a:chExt cx="6363392" cy="4420736"/>
          </a:xfrm>
        </p:grpSpPr>
        <p:pic>
          <p:nvPicPr>
            <p:cNvPr id="469779812" name=""/>
            <p:cNvPicPr>
              <a:picLocks noChangeAspect="1"/>
            </p:cNvPicPr>
            <p:nvPr/>
          </p:nvPicPr>
          <p:blipFill rotWithShape="1">
            <a:blip r:embed="rId3"/>
            <a:srcRect l="4555" t="22340" r="4352" b="22604"/>
            <a:stretch/>
          </p:blipFill>
          <p:spPr bwMode="auto">
            <a:xfrm rot="0" flipH="0" flipV="0">
              <a:off x="116366" y="645062"/>
              <a:ext cx="6247026" cy="3775674"/>
            </a:xfrm>
            <a:prstGeom prst="rect">
              <a:avLst/>
            </a:prstGeom>
          </p:spPr>
        </p:pic>
        <p:sp>
          <p:nvSpPr>
            <p:cNvPr id="1055438926" name=""/>
            <p:cNvSpPr txBox="1"/>
            <p:nvPr/>
          </p:nvSpPr>
          <p:spPr bwMode="auto">
            <a:xfrm rot="0" flipH="0" flipV="0">
              <a:off x="2239116" y="0"/>
              <a:ext cx="2001525" cy="5185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" sz="2800">
                  <a:solidFill>
                    <a:schemeClr val="accent5"/>
                  </a:solidFill>
                </a:rPr>
                <a:t>DAVID</a:t>
              </a:r>
              <a:r>
                <a:rPr lang="en" sz="2800">
                  <a:solidFill>
                    <a:schemeClr val="accent5"/>
                  </a:solidFill>
                </a:rPr>
                <a:t> </a:t>
              </a:r>
              <a:r>
                <a:rPr lang="en" sz="2800">
                  <a:solidFill>
                    <a:schemeClr val="tx1"/>
                  </a:solidFill>
                </a:rPr>
                <a:t>(15)</a:t>
              </a:r>
              <a:endParaRPr sz="2800">
                <a:solidFill>
                  <a:schemeClr val="accent5"/>
                </a:solidFill>
              </a:endParaRPr>
            </a:p>
          </p:txBody>
        </p:sp>
        <p:sp>
          <p:nvSpPr>
            <p:cNvPr id="1329294348" name=""/>
            <p:cNvSpPr txBox="1"/>
            <p:nvPr/>
          </p:nvSpPr>
          <p:spPr bwMode="auto">
            <a:xfrm rot="0" flipH="0" flipV="0">
              <a:off x="0" y="1122500"/>
              <a:ext cx="2239117" cy="4880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" sz="2600">
                  <a:solidFill>
                    <a:srgbClr val="C4339D"/>
                  </a:solidFill>
                </a:rPr>
                <a:t>ISABELLE </a:t>
              </a:r>
              <a:r>
                <a:rPr lang="en" sz="2600">
                  <a:solidFill>
                    <a:schemeClr val="tx1"/>
                  </a:solidFill>
                </a:rPr>
                <a:t>(9)</a:t>
              </a:r>
              <a:endParaRPr sz="2600">
                <a:solidFill>
                  <a:srgbClr val="C4339D"/>
                </a:solidFill>
              </a:endParaRPr>
            </a:p>
          </p:txBody>
        </p:sp>
        <p:sp>
          <p:nvSpPr>
            <p:cNvPr id="688168005" name=""/>
            <p:cNvSpPr txBox="1"/>
            <p:nvPr/>
          </p:nvSpPr>
          <p:spPr bwMode="auto">
            <a:xfrm rot="0" flipH="0" flipV="0">
              <a:off x="4240641" y="1015999"/>
              <a:ext cx="1978605" cy="1189080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" sz="2400" b="0" i="0" u="none" strike="noStrike" cap="none" spc="0">
                  <a:solidFill>
                    <a:srgbClr val="C4339D"/>
                  </a:solidFill>
                  <a:latin typeface="Arial"/>
                  <a:ea typeface="Arial"/>
                  <a:cs typeface="Arial"/>
                </a:rPr>
                <a:t>SARAH,</a:t>
              </a:r>
              <a:br>
                <a:rPr lang="en" sz="2400" b="0" i="0" u="none" strike="noStrike" cap="none" spc="0">
                  <a:solidFill>
                    <a:schemeClr val="accent5"/>
                  </a:solidFill>
                  <a:latin typeface="Arial"/>
                  <a:ea typeface="Arial"/>
                  <a:cs typeface="Arial"/>
                </a:rPr>
              </a:br>
              <a:r>
                <a:rPr lang="en" sz="2400" b="0" i="0" u="none" strike="noStrike" cap="none" spc="0">
                  <a:solidFill>
                    <a:schemeClr val="accent5"/>
                  </a:solidFill>
                  <a:latin typeface="Arial"/>
                  <a:ea typeface="Arial"/>
                  <a:cs typeface="Arial"/>
                </a:rPr>
                <a:t>JONATHAN, </a:t>
              </a:r>
              <a:br>
                <a:rPr lang="en" sz="2400" b="0" i="0" u="none" strike="noStrike" cap="none" spc="0">
                  <a:solidFill>
                    <a:schemeClr val="accent5"/>
                  </a:solidFill>
                  <a:latin typeface="Arial"/>
                  <a:ea typeface="Arial"/>
                  <a:cs typeface="Arial"/>
                </a:rPr>
              </a:br>
              <a:r>
                <a:rPr lang="en" sz="2400" b="0" i="0" u="none" strike="noStrike" cap="none" spc="0">
                  <a:solidFill>
                    <a:schemeClr val="accent5"/>
                  </a:solidFill>
                  <a:latin typeface="Arial"/>
                  <a:ea typeface="Arial"/>
                  <a:cs typeface="Arial"/>
                </a:rPr>
                <a:t>VINCENT</a:t>
              </a:r>
              <a:r>
                <a:rPr lang="en" sz="2400" b="0" i="0" u="none" strike="noStrike" cap="none" spc="0">
                  <a:solidFill>
                    <a:srgbClr val="C4339D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en" sz="2400">
                  <a:solidFill>
                    <a:schemeClr val="tx1"/>
                  </a:solidFill>
                </a:rPr>
                <a:t>(7)</a:t>
              </a:r>
              <a:endParaRPr sz="24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01262858" name=""/>
          <p:cNvGrpSpPr/>
          <p:nvPr/>
        </p:nvGrpSpPr>
        <p:grpSpPr bwMode="auto">
          <a:xfrm>
            <a:off x="1958295" y="957204"/>
            <a:ext cx="7455908" cy="5215723"/>
            <a:chOff x="0" y="0"/>
            <a:chExt cx="7455908" cy="5215723"/>
          </a:xfrm>
        </p:grpSpPr>
        <p:cxnSp>
          <p:nvCxnSpPr>
            <p:cNvPr id="797499576" name=""/>
            <p:cNvCxnSpPr/>
            <p:nvPr/>
          </p:nvCxnSpPr>
          <p:spPr bwMode="auto">
            <a:xfrm flipH="1" flipV="1">
              <a:off x="649862" y="0"/>
              <a:ext cx="0" cy="4675908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703967" name=""/>
            <p:cNvCxnSpPr/>
            <p:nvPr/>
          </p:nvCxnSpPr>
          <p:spPr bwMode="auto">
            <a:xfrm flipH="0" flipV="0">
              <a:off x="649862" y="4675908"/>
              <a:ext cx="6806045" cy="55418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47710" name=""/>
            <p:cNvCxnSpPr/>
            <p:nvPr/>
          </p:nvCxnSpPr>
          <p:spPr bwMode="auto">
            <a:xfrm flipH="0" flipV="0">
              <a:off x="4148135" y="138545"/>
              <a:ext cx="0" cy="4494067"/>
            </a:xfrm>
            <a:prstGeom prst="line">
              <a:avLst/>
            </a:prstGeom>
            <a:ln w="19050" cap="flat" cmpd="sng" algn="ctr">
              <a:solidFill>
                <a:srgbClr val="000000"/>
              </a:solidFill>
              <a:prstDash val="sys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5434055" name=""/>
            <p:cNvCxnSpPr/>
            <p:nvPr/>
          </p:nvCxnSpPr>
          <p:spPr bwMode="auto">
            <a:xfrm flipH="1" flipV="0">
              <a:off x="649862" y="2251363"/>
              <a:ext cx="6806045" cy="60613"/>
            </a:xfrm>
            <a:prstGeom prst="line">
              <a:avLst/>
            </a:prstGeom>
            <a:ln w="19050" cap="flat" cmpd="sng" algn="ctr">
              <a:solidFill>
                <a:srgbClr val="000000"/>
              </a:solidFill>
              <a:prstDash val="sys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9470864" name=""/>
            <p:cNvSpPr txBox="1"/>
            <p:nvPr/>
          </p:nvSpPr>
          <p:spPr bwMode="auto">
            <a:xfrm rot="0" flipH="0" flipV="0">
              <a:off x="4888891" y="758334"/>
              <a:ext cx="2399576" cy="10976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l">
                <a:defRPr/>
              </a:pPr>
              <a:r>
                <a:rPr b="1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 themes</a:t>
              </a:r>
              <a:br>
                <a:rPr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</a:br>
              <a:r>
                <a:rPr lang="en-US" sz="16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well-developed </a:t>
              </a:r>
              <a:r>
                <a:rPr lang="en" sz="16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&amp; </a:t>
              </a:r>
              <a:r>
                <a:rPr lang="en-US" sz="16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central</a:t>
              </a:r>
              <a:br>
                <a:rPr sz="1600">
                  <a:latin typeface="Arial"/>
                  <a:ea typeface="Arial"/>
                  <a:cs typeface="Arial"/>
                </a:rPr>
              </a:br>
              <a:r>
                <a:rPr lang="en-US" sz="16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internally mature and externally relevant.</a:t>
              </a:r>
              <a:endParaRPr>
                <a:latin typeface="Arial"/>
                <a:cs typeface="Arial"/>
              </a:endParaRPr>
            </a:p>
          </p:txBody>
        </p:sp>
        <p:sp>
          <p:nvSpPr>
            <p:cNvPr id="416425673" name=""/>
            <p:cNvSpPr txBox="1"/>
            <p:nvPr/>
          </p:nvSpPr>
          <p:spPr bwMode="auto">
            <a:xfrm rot="0" flipH="0" flipV="0">
              <a:off x="4649424" y="2591983"/>
              <a:ext cx="2639042" cy="15853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l">
                <a:defRPr/>
              </a:pPr>
              <a:r>
                <a:rPr b="1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Transversal themes</a:t>
              </a:r>
              <a:br>
                <a:rPr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</a:br>
              <a:r>
                <a:rPr lang="en-US" sz="16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general</a:t>
              </a:r>
              <a:endParaRPr sz="1600" b="0" i="0" u="none" strike="noStrike" cap="none" spc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>
                <a:defRPr/>
              </a:pPr>
              <a:r>
                <a:rPr lang="en-US" sz="16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transversal topics that cut across many research areas</a:t>
              </a:r>
              <a:r>
                <a:rPr lang="en" sz="1600">
                  <a:latin typeface="Arial"/>
                  <a:ea typeface="Arial"/>
                  <a:cs typeface="Arial"/>
                </a:rPr>
                <a:t> </a:t>
              </a:r>
              <a:r>
                <a:rPr lang="en-US" sz="16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but not yet well-developed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393859827" name=""/>
            <p:cNvSpPr txBox="1"/>
            <p:nvPr/>
          </p:nvSpPr>
          <p:spPr bwMode="auto">
            <a:xfrm rot="0" flipH="0" flipV="0">
              <a:off x="1063549" y="3047638"/>
              <a:ext cx="2931602" cy="8537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l">
                <a:defRPr/>
              </a:pPr>
              <a:r>
                <a:rPr b="1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Emerging themes</a:t>
              </a:r>
              <a:br>
                <a:rPr b="1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</a:br>
              <a:r>
                <a:rPr lang="en-US" sz="16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peripheral and underdeveloped</a:t>
              </a:r>
              <a:endParaRPr b="1" i="0" u="none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683822009" name=""/>
            <p:cNvSpPr txBox="1"/>
            <p:nvPr/>
          </p:nvSpPr>
          <p:spPr bwMode="auto">
            <a:xfrm rot="0" flipH="0" flipV="0">
              <a:off x="1455158" y="758334"/>
              <a:ext cx="2254447" cy="13414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l">
                <a:defRPr/>
              </a:pPr>
              <a:r>
                <a:rPr lang="en-US" sz="1800" b="1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Niche themes</a:t>
              </a:r>
              <a:br>
                <a:rPr>
                  <a:latin typeface="Arial"/>
                  <a:ea typeface="Arial"/>
                  <a:cs typeface="Arial"/>
                </a:rPr>
              </a:br>
              <a:r>
                <a:rPr lang="en-US" sz="16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strong internal structure but limited connections to the broader field</a:t>
              </a:r>
              <a:endParaRPr>
                <a:latin typeface="Arial"/>
                <a:cs typeface="Arial"/>
              </a:endParaRPr>
            </a:p>
          </p:txBody>
        </p:sp>
        <p:sp>
          <p:nvSpPr>
            <p:cNvPr id="491318279" name=""/>
            <p:cNvSpPr txBox="1"/>
            <p:nvPr/>
          </p:nvSpPr>
          <p:spPr bwMode="auto">
            <a:xfrm rot="16199999" flipH="0" flipV="0">
              <a:off x="-945063" y="1746693"/>
              <a:ext cx="2256246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l">
                <a:defRPr/>
              </a:pPr>
              <a:r>
                <a:rPr lang="en" sz="18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Centrality</a:t>
              </a:r>
              <a:endParaRPr>
                <a:latin typeface="Arial"/>
                <a:cs typeface="Arial"/>
              </a:endParaRPr>
            </a:p>
          </p:txBody>
        </p:sp>
        <p:sp>
          <p:nvSpPr>
            <p:cNvPr id="771933409" name=""/>
            <p:cNvSpPr txBox="1"/>
            <p:nvPr/>
          </p:nvSpPr>
          <p:spPr bwMode="auto">
            <a:xfrm rot="0" flipH="0" flipV="0">
              <a:off x="3193194" y="4849603"/>
              <a:ext cx="2260565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l">
                <a:defRPr/>
              </a:pPr>
              <a:r>
                <a:rPr lang="en" sz="18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Betweenness</a:t>
              </a:r>
              <a:endParaRPr>
                <a:latin typeface="Arial"/>
                <a:cs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2026-10-14T15:01:27Z</dcterms:modified>
</cp:coreProperties>
</file>